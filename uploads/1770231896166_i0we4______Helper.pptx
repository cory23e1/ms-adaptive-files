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1015" r:id="rId2"/>
    <p:sldId id="1044" r:id="rId3"/>
    <p:sldId id="1020" r:id="rId4"/>
    <p:sldId id="1017" r:id="rId5"/>
    <p:sldId id="1041" r:id="rId6"/>
    <p:sldId id="1040" r:id="rId7"/>
    <p:sldId id="1042" r:id="rId8"/>
    <p:sldId id="104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Основная презентация" id="{FA1E0A9F-7237-4F05-ADCC-4CB9EF6FC82F}">
          <p14:sldIdLst>
            <p14:sldId id="1015"/>
            <p14:sldId id="1044"/>
            <p14:sldId id="1020"/>
            <p14:sldId id="1017"/>
            <p14:sldId id="1041"/>
            <p14:sldId id="1040"/>
            <p14:sldId id="1042"/>
            <p14:sldId id="1043"/>
          </p14:sldIdLst>
        </p14:section>
        <p14:section name="Доп.слайды" id="{262FD8CB-9C3A-46DC-8949-C91C04A9D039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572" userDrawn="1">
          <p15:clr>
            <a:srgbClr val="A4A3A4"/>
          </p15:clr>
        </p15:guide>
        <p15:guide id="2" pos="4067" userDrawn="1">
          <p15:clr>
            <a:srgbClr val="A4A3A4"/>
          </p15:clr>
        </p15:guide>
        <p15:guide id="3" orient="horz" pos="145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Файзуллин Юрий Андреевич" initials="ФЮА" lastIdx="2" clrIdx="0">
    <p:extLst>
      <p:ext uri="{19B8F6BF-5375-455C-9EA6-DF929625EA0E}">
        <p15:presenceInfo xmlns:p15="http://schemas.microsoft.com/office/powerpoint/2012/main" userId="Файзуллин Юрий Андреевич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ECF10D"/>
    <a:srgbClr val="FFD200"/>
    <a:srgbClr val="FED104"/>
    <a:srgbClr val="FFD201"/>
    <a:srgbClr val="FAD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54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52" y="-348"/>
      </p:cViewPr>
      <p:guideLst>
        <p:guide orient="horz" pos="572"/>
        <p:guide pos="4067"/>
        <p:guide orient="horz" pos="145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9B229D-3465-4954-8259-78D5E7BD9D9A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445AD2-CD1B-489D-B813-8A146AE1BA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2191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EFA82E-D45C-4223-B7CB-47D5D1E6D94B}" type="slidenum">
              <a:rPr lang="ru-RU" smtClean="0"/>
              <a:pPr>
                <a:defRPr/>
              </a:pPr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34534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EFA82E-D45C-4223-B7CB-47D5D1E6D94B}" type="slidenum">
              <a:rPr lang="ru-RU" smtClean="0"/>
              <a:pPr>
                <a:defRPr/>
              </a:pPr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05865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EFA82E-D45C-4223-B7CB-47D5D1E6D94B}" type="slidenum">
              <a:rPr lang="ru-RU" smtClean="0"/>
              <a:pPr>
                <a:defRPr/>
              </a:pPr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52653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EFA82E-D45C-4223-B7CB-47D5D1E6D94B}" type="slidenum">
              <a:rPr lang="ru-RU" smtClean="0"/>
              <a:pPr>
                <a:defRPr/>
              </a:pPr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34666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EFA82E-D45C-4223-B7CB-47D5D1E6D94B}" type="slidenum">
              <a:rPr lang="ru-RU" smtClean="0"/>
              <a:pPr>
                <a:defRPr/>
              </a:pPr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01949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EFA82E-D45C-4223-B7CB-47D5D1E6D94B}" type="slidenum">
              <a:rPr lang="ru-RU" smtClean="0"/>
              <a:pPr>
                <a:defRPr/>
              </a:pPr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63638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EFA82E-D45C-4223-B7CB-47D5D1E6D94B}" type="slidenum">
              <a:rPr lang="ru-RU" smtClean="0"/>
              <a:pPr>
                <a:defRPr/>
              </a:pPr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2439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sn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BD1E7D1-533E-4378-BE09-2936213F9D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2075" y="368300"/>
            <a:ext cx="1011938" cy="33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163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A6629-F0A2-4FBF-A58B-1575E812BD74}" type="datetime1">
              <a:rPr lang="ru-RU" smtClean="0"/>
              <a:t>04.02.2026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0685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>
            <a:extLst>
              <a:ext uri="{FF2B5EF4-FFF2-40B4-BE49-F238E27FC236}">
                <a16:creationId xmlns:a16="http://schemas.microsoft.com/office/drawing/2014/main" id="{52B5B2D2-F040-40CB-9916-8435755AC021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 rot="10800000" flipV="1">
            <a:off x="3309" y="6318001"/>
            <a:ext cx="540000" cy="540000"/>
          </a:xfrm>
          <a:prstGeom prst="rect">
            <a:avLst/>
          </a:prstGeom>
          <a:solidFill>
            <a:srgbClr val="FAD200"/>
          </a:solidFill>
          <a:ln w="9525" algn="ctr">
            <a:noFill/>
            <a:miter lim="800000"/>
            <a:headEnd/>
            <a:tailEnd/>
          </a:ln>
        </p:spPr>
        <p:txBody>
          <a:bodyPr wrap="none" lIns="97718" tIns="48860" rIns="97718" bIns="48860" anchor="ctr"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9BBD338F-8E09-4F68-B7E9-C207A2FDEA56}"/>
              </a:ext>
            </a:extLst>
          </p:cNvPr>
          <p:cNvSpPr txBox="1">
            <a:spLocks/>
          </p:cNvSpPr>
          <p:nvPr userDrawn="1"/>
        </p:nvSpPr>
        <p:spPr>
          <a:xfrm>
            <a:off x="36552" y="6420186"/>
            <a:ext cx="462154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ctr" defTabSz="914400" rtl="0" eaLnBrk="1" latinLnBrk="0" hangingPunct="1"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10A0DD-03E8-418E-9CCE-E0D41FE630AA}" type="slidenum">
              <a:rPr lang="ru-RU" sz="1400" smtClean="0"/>
              <a:pPr/>
              <a:t>‹#›</a:t>
            </a:fld>
            <a:endParaRPr lang="ru-RU" sz="14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7B25DC2-89E6-4DD4-ADB1-08EC4727B5F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2075" y="368300"/>
            <a:ext cx="1011938" cy="33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731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17136" y="1267968"/>
            <a:ext cx="7674864" cy="5590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5760" y="3074608"/>
            <a:ext cx="6191045" cy="354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lnSpc>
                <a:spcPts val="2000"/>
              </a:lnSpc>
              <a:defRPr/>
            </a:pPr>
            <a:r>
              <a:rPr lang="ru-RU" sz="2400" dirty="0">
                <a:solidFill>
                  <a:srgbClr val="221E20"/>
                </a:solidFill>
                <a:latin typeface="Segoe UI Semibold" panose="020B0502040204020203" pitchFamily="34" charset="0"/>
                <a:ea typeface="Segoe UI Black" panose="020B0A02040204020203" pitchFamily="34" charset="0"/>
                <a:cs typeface="Segoe UI Semibold" panose="020B0502040204020203" pitchFamily="34" charset="0"/>
              </a:rPr>
              <a:t>ЕКТП </a:t>
            </a:r>
            <a:r>
              <a:rPr lang="en-US" sz="2400" dirty="0">
                <a:solidFill>
                  <a:srgbClr val="221E20"/>
                </a:solidFill>
                <a:latin typeface="Segoe UI Semibold" panose="020B0502040204020203" pitchFamily="34" charset="0"/>
                <a:ea typeface="Segoe UI Black" panose="020B0A02040204020203" pitchFamily="34" charset="0"/>
                <a:cs typeface="Segoe UI Semibold" panose="020B0502040204020203" pitchFamily="34" charset="0"/>
              </a:rPr>
              <a:t>Helper</a:t>
            </a:r>
            <a:endParaRPr lang="ru-RU" sz="2400" dirty="0">
              <a:solidFill>
                <a:srgbClr val="221E20"/>
              </a:solidFill>
              <a:latin typeface="Segoe UI Semibold" panose="020B0502040204020203" pitchFamily="34" charset="0"/>
              <a:ea typeface="Segoe UI Black" panose="020B0A02040204020203" pitchFamily="34" charset="0"/>
              <a:cs typeface="Segoe UI Semibold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4259" y="6369653"/>
            <a:ext cx="1500026" cy="254466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ctr">
              <a:lnSpc>
                <a:spcPct val="130000"/>
              </a:lnSpc>
            </a:pPr>
            <a:r>
              <a:rPr lang="ru-RU" sz="1200" b="1" dirty="0">
                <a:latin typeface="Segoe UI" panose="020B0502040204020203" pitchFamily="34" charset="0"/>
                <a:ea typeface="Segoe UI Emoji" panose="020B0502040204020203" pitchFamily="34" charset="0"/>
                <a:cs typeface="Segoe UI" panose="020B0502040204020203" pitchFamily="34" charset="0"/>
              </a:rPr>
              <a:t>202</a:t>
            </a:r>
            <a:r>
              <a:rPr lang="en-US" sz="1200" b="1" dirty="0">
                <a:latin typeface="Segoe UI" panose="020B0502040204020203" pitchFamily="34" charset="0"/>
                <a:ea typeface="Segoe UI Emoji" panose="020B0502040204020203" pitchFamily="34" charset="0"/>
                <a:cs typeface="Segoe UI" panose="020B0502040204020203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56627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FEDFAE21-99ED-41B0-9DAB-65F9999FCABC}"/>
              </a:ext>
            </a:extLst>
          </p:cNvPr>
          <p:cNvSpPr txBox="1"/>
          <p:nvPr/>
        </p:nvSpPr>
        <p:spPr>
          <a:xfrm>
            <a:off x="340693" y="432577"/>
            <a:ext cx="10882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2813">
              <a:tabLst>
                <a:tab pos="2686050" algn="l"/>
              </a:tabLst>
            </a:pPr>
            <a:r>
              <a:rPr lang="ru-RU" sz="2800" b="1" dirty="0">
                <a:solidFill>
                  <a:srgbClr val="1F232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АКТУАЛЬНОСТЬ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E4C0E7C-9554-4D7D-964A-B1066E66A051}"/>
              </a:ext>
            </a:extLst>
          </p:cNvPr>
          <p:cNvSpPr/>
          <p:nvPr/>
        </p:nvSpPr>
        <p:spPr>
          <a:xfrm>
            <a:off x="370269" y="304129"/>
            <a:ext cx="1885315" cy="53051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1146861" y="2598511"/>
            <a:ext cx="27964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Segoe UI" panose="020B0502040204020203" pitchFamily="34" charset="0"/>
                <a:cs typeface="Segoe UI" panose="020B0502040204020203" pitchFamily="34" charset="0"/>
              </a:rPr>
              <a:t>Массовое</a:t>
            </a:r>
            <a:r>
              <a:rPr lang="ru-RU" sz="1200" dirty="0"/>
              <a:t> тиражирование ИС ЕКТП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CF3A1E8-ED54-417D-9223-2F4F4A71014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43" r="50859" b="11771"/>
          <a:stretch/>
        </p:blipFill>
        <p:spPr>
          <a:xfrm>
            <a:off x="6796102" y="1952180"/>
            <a:ext cx="5319698" cy="4530310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698311E-E316-4617-8330-EC856A91D0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658" y="1952180"/>
            <a:ext cx="1798196" cy="647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97F8348-6621-414C-862E-D3C33CA9BCF8}"/>
              </a:ext>
            </a:extLst>
          </p:cNvPr>
          <p:cNvSpPr txBox="1"/>
          <p:nvPr/>
        </p:nvSpPr>
        <p:spPr>
          <a:xfrm>
            <a:off x="370269" y="944918"/>
            <a:ext cx="10336577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ЕКТП – единый корпоративный транспортный портал единый корпоративный транспортный портал единый корпоративный транспортный портал единый корпоративный</a:t>
            </a:r>
          </a:p>
        </p:txBody>
      </p: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D7029A04-6FFD-4831-B68B-EE48C0154A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375" b="97813" l="5176" r="96094">
                        <a14:foregroundMark x1="13574" y1="43125" x2="8594" y2="46719"/>
                        <a14:foregroundMark x1="8594" y1="46719" x2="5469" y2="71406"/>
                        <a14:foregroundMark x1="5469" y1="71406" x2="2539" y2="78438"/>
                        <a14:foregroundMark x1="2539" y1="78438" x2="4297" y2="86875"/>
                        <a14:foregroundMark x1="4297" y1="86875" x2="9375" y2="94219"/>
                        <a14:foregroundMark x1="9375" y1="94219" x2="14746" y2="91250"/>
                        <a14:foregroundMark x1="14746" y1="91250" x2="15527" y2="82500"/>
                        <a14:foregroundMark x1="15527" y1="82500" x2="16602" y2="80469"/>
                        <a14:foregroundMark x1="81836" y1="10625" x2="89551" y2="3125"/>
                        <a14:foregroundMark x1="89551" y1="3125" x2="90332" y2="10938"/>
                        <a14:foregroundMark x1="90332" y1="10938" x2="89648" y2="11719"/>
                        <a14:foregroundMark x1="90918" y1="34063" x2="94434" y2="44531"/>
                        <a14:foregroundMark x1="94434" y1="44531" x2="96094" y2="56719"/>
                        <a14:foregroundMark x1="96094" y1="56719" x2="93555" y2="55156"/>
                        <a14:foregroundMark x1="6836" y1="58438" x2="5371" y2="65625"/>
                        <a14:foregroundMark x1="37891" y1="90156" x2="47949" y2="97813"/>
                        <a14:foregroundMark x1="47949" y1="97813" x2="52441" y2="96250"/>
                        <a14:foregroundMark x1="22168" y1="31563" x2="26953" y2="34063"/>
                        <a14:foregroundMark x1="88672" y1="64219" x2="95313" y2="64531"/>
                        <a14:foregroundMark x1="95313" y1="64531" x2="95117" y2="71406"/>
                        <a14:foregroundMark x1="87402" y1="5313" x2="91699" y2="43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17478"/>
            <a:ext cx="6182655" cy="3864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Стрелка: вниз 4">
            <a:extLst>
              <a:ext uri="{FF2B5EF4-FFF2-40B4-BE49-F238E27FC236}">
                <a16:creationId xmlns:a16="http://schemas.microsoft.com/office/drawing/2014/main" id="{F7A1ED51-5FDD-4460-9314-54593026ECAB}"/>
              </a:ext>
            </a:extLst>
          </p:cNvPr>
          <p:cNvSpPr/>
          <p:nvPr/>
        </p:nvSpPr>
        <p:spPr>
          <a:xfrm rot="2038128">
            <a:off x="1938385" y="2770323"/>
            <a:ext cx="139099" cy="1120424"/>
          </a:xfrm>
          <a:prstGeom prst="down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Стрелка: вниз 29">
            <a:extLst>
              <a:ext uri="{FF2B5EF4-FFF2-40B4-BE49-F238E27FC236}">
                <a16:creationId xmlns:a16="http://schemas.microsoft.com/office/drawing/2014/main" id="{90843ED4-86B4-4FA9-8BB1-13A21FF5AF35}"/>
              </a:ext>
            </a:extLst>
          </p:cNvPr>
          <p:cNvSpPr/>
          <p:nvPr/>
        </p:nvSpPr>
        <p:spPr>
          <a:xfrm rot="21301992">
            <a:off x="2309078" y="2830987"/>
            <a:ext cx="139099" cy="1120424"/>
          </a:xfrm>
          <a:prstGeom prst="down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Стрелка: вниз 30">
            <a:extLst>
              <a:ext uri="{FF2B5EF4-FFF2-40B4-BE49-F238E27FC236}">
                <a16:creationId xmlns:a16="http://schemas.microsoft.com/office/drawing/2014/main" id="{C7E7B733-33B3-4A68-91CD-A21A52AA21C7}"/>
              </a:ext>
            </a:extLst>
          </p:cNvPr>
          <p:cNvSpPr/>
          <p:nvPr/>
        </p:nvSpPr>
        <p:spPr>
          <a:xfrm rot="19696349">
            <a:off x="2616809" y="2729937"/>
            <a:ext cx="154981" cy="1368390"/>
          </a:xfrm>
          <a:prstGeom prst="down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Стрелка: вниз 31">
            <a:extLst>
              <a:ext uri="{FF2B5EF4-FFF2-40B4-BE49-F238E27FC236}">
                <a16:creationId xmlns:a16="http://schemas.microsoft.com/office/drawing/2014/main" id="{7B0B79A4-3D3D-4434-BB81-F90D3C648C48}"/>
              </a:ext>
            </a:extLst>
          </p:cNvPr>
          <p:cNvSpPr/>
          <p:nvPr/>
        </p:nvSpPr>
        <p:spPr>
          <a:xfrm rot="18087097">
            <a:off x="3619807" y="2100289"/>
            <a:ext cx="144594" cy="3130410"/>
          </a:xfrm>
          <a:prstGeom prst="down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Стрелка: вниз 34">
            <a:extLst>
              <a:ext uri="{FF2B5EF4-FFF2-40B4-BE49-F238E27FC236}">
                <a16:creationId xmlns:a16="http://schemas.microsoft.com/office/drawing/2014/main" id="{2C566108-B2A7-4613-A90C-A6B8A1296B87}"/>
              </a:ext>
            </a:extLst>
          </p:cNvPr>
          <p:cNvSpPr/>
          <p:nvPr/>
        </p:nvSpPr>
        <p:spPr>
          <a:xfrm rot="18766976">
            <a:off x="2991896" y="2651415"/>
            <a:ext cx="153944" cy="1717352"/>
          </a:xfrm>
          <a:prstGeom prst="down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Стрелка: вниз 36">
            <a:extLst>
              <a:ext uri="{FF2B5EF4-FFF2-40B4-BE49-F238E27FC236}">
                <a16:creationId xmlns:a16="http://schemas.microsoft.com/office/drawing/2014/main" id="{BC211833-BFCC-40F8-B0C2-FC937B89A51A}"/>
              </a:ext>
            </a:extLst>
          </p:cNvPr>
          <p:cNvSpPr/>
          <p:nvPr/>
        </p:nvSpPr>
        <p:spPr>
          <a:xfrm rot="2991663">
            <a:off x="1427804" y="2611216"/>
            <a:ext cx="144281" cy="1933500"/>
          </a:xfrm>
          <a:prstGeom prst="down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Стрелка: вниз 37">
            <a:extLst>
              <a:ext uri="{FF2B5EF4-FFF2-40B4-BE49-F238E27FC236}">
                <a16:creationId xmlns:a16="http://schemas.microsoft.com/office/drawing/2014/main" id="{356E790C-9364-4BDE-ABD0-AD932FF25E52}"/>
              </a:ext>
            </a:extLst>
          </p:cNvPr>
          <p:cNvSpPr/>
          <p:nvPr/>
        </p:nvSpPr>
        <p:spPr>
          <a:xfrm rot="1447002">
            <a:off x="1808814" y="2769684"/>
            <a:ext cx="192073" cy="2058484"/>
          </a:xfrm>
          <a:prstGeom prst="down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Стрелка: вниз 38">
            <a:extLst>
              <a:ext uri="{FF2B5EF4-FFF2-40B4-BE49-F238E27FC236}">
                <a16:creationId xmlns:a16="http://schemas.microsoft.com/office/drawing/2014/main" id="{22946E65-060A-402E-9E67-289CCE9AFE05}"/>
              </a:ext>
            </a:extLst>
          </p:cNvPr>
          <p:cNvSpPr/>
          <p:nvPr/>
        </p:nvSpPr>
        <p:spPr>
          <a:xfrm rot="20160296">
            <a:off x="2769475" y="2822422"/>
            <a:ext cx="187023" cy="2313909"/>
          </a:xfrm>
          <a:prstGeom prst="down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Блок-схема: альтернативный процесс 13">
            <a:extLst>
              <a:ext uri="{FF2B5EF4-FFF2-40B4-BE49-F238E27FC236}">
                <a16:creationId xmlns:a16="http://schemas.microsoft.com/office/drawing/2014/main" id="{343B7AD2-E7AB-41F3-AFC3-C64EED130734}"/>
              </a:ext>
            </a:extLst>
          </p:cNvPr>
          <p:cNvSpPr/>
          <p:nvPr/>
        </p:nvSpPr>
        <p:spPr>
          <a:xfrm>
            <a:off x="7239000" y="2598511"/>
            <a:ext cx="4562475" cy="582839"/>
          </a:xfrm>
          <a:prstGeom prst="flowChartAlternateProcess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Недружелюбный интерфейс</a:t>
            </a:r>
          </a:p>
        </p:txBody>
      </p:sp>
      <p:sp>
        <p:nvSpPr>
          <p:cNvPr id="40" name="Блок-схема: альтернативный процесс 39">
            <a:extLst>
              <a:ext uri="{FF2B5EF4-FFF2-40B4-BE49-F238E27FC236}">
                <a16:creationId xmlns:a16="http://schemas.microsoft.com/office/drawing/2014/main" id="{B470D208-CFE8-417A-B738-7A700B03967B}"/>
              </a:ext>
            </a:extLst>
          </p:cNvPr>
          <p:cNvSpPr/>
          <p:nvPr/>
        </p:nvSpPr>
        <p:spPr>
          <a:xfrm>
            <a:off x="7212813" y="3453992"/>
            <a:ext cx="4562475" cy="582839"/>
          </a:xfrm>
          <a:prstGeom prst="flowChartAlternateProcess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Много ненужных кнопок</a:t>
            </a:r>
          </a:p>
        </p:txBody>
      </p:sp>
      <p:sp>
        <p:nvSpPr>
          <p:cNvPr id="41" name="Блок-схема: альтернативный процесс 40">
            <a:extLst>
              <a:ext uri="{FF2B5EF4-FFF2-40B4-BE49-F238E27FC236}">
                <a16:creationId xmlns:a16="http://schemas.microsoft.com/office/drawing/2014/main" id="{604D9048-C73C-425D-9B0B-3246DC143784}"/>
              </a:ext>
            </a:extLst>
          </p:cNvPr>
          <p:cNvSpPr/>
          <p:nvPr/>
        </p:nvSpPr>
        <p:spPr>
          <a:xfrm>
            <a:off x="7239000" y="4372135"/>
            <a:ext cx="4562475" cy="582839"/>
          </a:xfrm>
          <a:prstGeom prst="flowChartAlternateProcess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Много ненужных кнопок</a:t>
            </a:r>
          </a:p>
        </p:txBody>
      </p:sp>
      <p:sp>
        <p:nvSpPr>
          <p:cNvPr id="42" name="Блок-схема: альтернативный процесс 41">
            <a:extLst>
              <a:ext uri="{FF2B5EF4-FFF2-40B4-BE49-F238E27FC236}">
                <a16:creationId xmlns:a16="http://schemas.microsoft.com/office/drawing/2014/main" id="{62D17385-1724-455D-BB8A-92D7F36E8185}"/>
              </a:ext>
            </a:extLst>
          </p:cNvPr>
          <p:cNvSpPr/>
          <p:nvPr/>
        </p:nvSpPr>
        <p:spPr>
          <a:xfrm>
            <a:off x="7212812" y="5332505"/>
            <a:ext cx="4562475" cy="582839"/>
          </a:xfrm>
          <a:prstGeom prst="flowChartAlternateProcess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Много ненужных кнопок</a:t>
            </a:r>
          </a:p>
        </p:txBody>
      </p:sp>
    </p:spTree>
    <p:extLst>
      <p:ext uri="{BB962C8B-B14F-4D97-AF65-F5344CB8AC3E}">
        <p14:creationId xmlns:p14="http://schemas.microsoft.com/office/powerpoint/2010/main" val="4072872814"/>
      </p:ext>
    </p:extLst>
  </p:cSld>
  <p:clrMapOvr>
    <a:masterClrMapping/>
  </p:clrMapOvr>
  <p:transition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ru-RU" dirty="0"/>
          </a:p>
        </p:txBody>
      </p:sp>
      <p:sp>
        <p:nvSpPr>
          <p:cNvPr id="7" name="Rectangle 30"/>
          <p:cNvSpPr txBox="1">
            <a:spLocks noChangeArrowheads="1"/>
          </p:cNvSpPr>
          <p:nvPr/>
        </p:nvSpPr>
        <p:spPr>
          <a:xfrm>
            <a:off x="231484" y="280701"/>
            <a:ext cx="8641655" cy="720080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>
              <a:defRPr sz="3600" b="1">
                <a:latin typeface="Europe" pitchFamily="2" charset="0"/>
                <a:ea typeface="PFDinTextCondPro-Medium"/>
                <a:cs typeface="PFDinTextCondPro-Medium"/>
              </a:defRPr>
            </a:lvl1pPr>
          </a:lstStyle>
          <a:p>
            <a:endParaRPr lang="ru-RU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554" name="AutoShape 2" descr="data:image/jpeg;base64,/9j/4AAQSkZJRgABAQAAAQABAAD/2wCEAAoHCBYVFRgWFRUYGBgZGBgYHBkaGhgYHBkcGBgaGRgYGBocIS4lHB8rHxgYJjgmKy8xNTU1GiQ7QDs0Py40NTEBDAwMEA8QHhISGjQhJCE0NDQxMTExNDE0NDQ0NDQ0NDQ0MTQ0MTE0NDQ0NDQ0NDE/NDQ/PzQ0NDQ0NDQxNDQ0NP/AABEIAMQBAQMBIgACEQEDEQH/xAAcAAABBQEBAQAAAAAAAAAAAAAAAQIDBAUGBwj/xAA6EAACAQIEBAMFBwQCAgMAAAABAgADEQQSITEFQVFhBnGBEyIykaEHFFKxwdHwI0Ji8ZLhQ3IWM1P/xAAZAQADAQEBAAAAAAAAAAAAAAAAAQIDBAX/xAAiEQADAQACAwACAwEAAAAAAAAAAQIRITEDEkEyUSJCYRP/2gAMAwEAAhEDEQA/APSEc21Jkqsev7yCn018pIm/OW5Ra5LIPnFvAfpFVuQiFU4xYoMFjhY+skX0cphFtEgUEIhiwEBEAIQgAQiwgAkIQgAQhCABCEImD1BOd8RcWVFZLkHUsRt/6gy/xniQpLb+4jcf2955rxTEtXawdso1Y8n/AGmsR9NJSXLKeJxz1SffZVvtmI+sjOKZBbO/c5zHYuqFUAAG3L9Zlu9763vtNv8AnLM6vktNjWO1R/8AkZWONcn43B6ZzI1AAsf4ZG4BPfSChEezLDYt9fff1cyJ8U5/vf8A5nWQhb97cohItp8+8XotCqeE/wB6f8bntmP7w+8PuWfyzHX6ysBbz3PlFAufd9D0icJDl6tZaNVzs7f82mjwXB1a72zlVG7FmPpKvCeHvWfIosefS3Mz0fAcPSkiqg8zb4jM3IuX0Yn/AMdP/wC31eE6XKOn0hFg8o1UB0likveQ2k9O30iZpOIltFWEW0kVLRYKggI4CBIsIQgUAixIQEMd7ac45TBkB3F46ACQhCABCNZrRVa8AFhCEACVMfjVpLdjqdh1P7SXFYhUUsxsAPnfkJwvHOJtUJNtNQovqo6ecqZ0tL6U+K8SLsbvmPM2tYdDaY9St7pykADkOfzi4hgq2v8AI6+szXq78xynTM8Cq9RXrva431kZe2pIyxtRrC1rnt+sscDxwourvTV0W91YDnyBMprDBVr6KjHc7jr/ANRjvc2XU8+0vcb4klWo7pTCZrWVQNLC3lMzLYaDfl1hgKmiQt0sB9TGMnu266x3e2v5Rco677QaQJez7GZSdBvzvylvAYFndUTVmNgOvcyGnS12JJ2treeneGfD4w653ANXqP7dPhEiuEWn/XCbgPBlw6AEe+QM5/SXyLS0RI2MxN58akgzQkuYQgVhpC0kA/KQA7ayyoksxSTY5Y9Y20eJIuhRHRsdAQQhCBQQhCAghCLABIRYkAAiCiEWABGPUAFybC0VmsD5Tk/EHGA3uI4yDRiDz5WPzlTOsqZbH8U42pzKUzrb3drqepnJV8SDcX97U7fWRcQrjJv9f1mMMTfc6337dJ0TGEu/iJcTiRe2mu/eVc40MYTm1O0ru99Ok29TKqaHswIvt1MhdgBYgn6X9ZGo0N/SIxzfPWP1wmd7AEX1Gvz9LxWbptE9nra+kcV10F4nKE6beDQ+2m8sUlOnysOvbvHpQuNdPKd14N8KbV6qkAaonI9H85nTlDU0WvB3hzIorVV98j3V/Cp1ue/P1nVufltJilojDvOZvk64lpclQHtI2kzCxjW1lFkN4R+WEALqLYycSJBfkBJ5DOcVVvHCNBjhJDRRHARoj4BgkIQgUEIsSAgiObA/pEzDa95keIeOJh0NipfkpN/UjpBcsalt8F/D1yTZiCTrYaFR/lLU8xbxxiATrSGv4GObz97adj4d4+mJQn3VcaMoa9v8gT+0py0VUUjdvEnHeJ/F4osKdEoz2uxY3C9tOc5rDcaxFUZ3quQTdcpAXXoLXt6xzDYKf2zqvFvHsiZKbEFtCwA07Tjfbe5p11733Mix+LUsQNTzvMStjmsUFgQdT25ToiMRNUlwjQaoGBXkL2mVWQoQQRGLjCDp/wBX6w9uXsoUsxuLAXJJ6TVcLkyWboVntsPdOoPcwSmdCduX63jKildGVgeasMpHcSFyw1BsPnaaKk+icW6xHNzpJRTNrgRMOjN8CksegJPoJI3u5gysp5ggg38jtJfeD3FwNq310jsNTJN9ra/rJKS5jzPadP4Q8PnEvmfOKdO2tgBU56fL6ybaldmUy/bTQ8IeGjWK1qg/pgkqv4m6n/HeejKlhYaAWt0HYCFOmFUKoAVRoBoB/iI8TiqtZ0paRsdJGZOd4y0g6E9K7yG0sVBICJaExLRItosYtLSW2v8AOS2jQAY8CRpkKkcIgixEixwiARYFIIQhAYsSBlbHY9KKl6jhVA3PWALnoRqTWFtDe9/X9dp5f4iqZ61VibkMQD26Cd+PFGGJsKgvroQRy2E8n4xiM1R3BtmYnL0vtfvpNfDOmk7Kelaq4HMjTfkf2kSuym6MwvsVLL9QbxtOpfncdDIHa2udtb6bidHHRnVveyfDqHcBrWvc9T5nnNXE47KMqWCAAADlMDDvlY9zJXe9zYjy1v5w+GLunRYxFfQneUGfna/WP1PPf+ayJWsTp2/eXLwTeslAJ06y3gcS1GolRACyMpsdjlINvpKGHBBsNupM6Dw/wE4vPaslIIoPvakg/lJuv2XMrsq8Y4y+Jcu4QNaxCAAADqZmaH12k1ankYqTmKmwbcN5RDTvrt2lSkswblMscL4i2HqCpT1Zf7SLr0N+kn4pj3xFQu4UM5t7oFvy+sz6eGvyvY89R/ub/AOCPiKiogKoCM7WsFUcr9d4m1L0zp4i14T8P/eXykH2ag5yLi5/CDPWcJhVRFRFCqoAAGmneR8NwSUUCIAFA8ie5lu047v2ZpK4I3WJHMI0iRwUDCNtHmNMDWSIpeQFJavK9RecpDYzJCN9DCMRc2EepiCOWQZDhC0IsCRwixBCBQQixIn0MbUbKC3QE/ITyPxJxpq1RizWUGyKdrDQk9db7z1LitQLRck7I35TwjE0GLliQup89Zt40sLnZWosPxJRbW+v81mcxZ2ub31Ppy+UgdApFtfOSPWvlym1ufea9dGNVVPsVqRUXvpK/tTsIVKp5/KCG8r4Y1WA1Qg+eskSuO8gK36dJHTbcE7Q0neS3Uq3Ejz6aAyJdbjl9fSOQ23jTZTrkkzaWtpOg8LcHpYl2SrVakQvuqN2AG5vyE5tG13tJqBcm6luZuL5td7dRClpoqwt4ikquwRs6A6MLkNy0vI6TG531hhkdmCqrOzaAICxa2twFvYjvLyYUoxFRWRl3VhYgc73jVYarkucC4ZUrOKaAljqeirzJnsPB+FJh0CIO7H8R6mY/gYYb2ANA6m+f8Qbqe23adQRcazm8lungqXzBNpFUqnMQBoN/Xa31kyC0W0y6B/oYuogY/aI0BYMLQaLEaBcsZaQ1B0k7GMYesDRsgymEf6Qj0Wk4W0UCNEVR1FojIeBHRqx14CQoEICECghCEPgjD8XvlwtQ9QB5azxjGYm5Nhee1+J+HGvhqiL8WW47sutjPDca5U5W+K5vbkb6iawtHVfxwqNUJ32jDfqIlbEZrC1gP5rI6TX0O0tpo5dekltL+klSj3+cYD/ADtHpV7X84PcBNbyRutiLyJ00v5Sdj1PKQq9uUaTJfL4FpUy18qk7k2BNh3ttIwL9Of0nZ+FfFiYOi1M0BUuxYG9jryOmoEw8diXxNQsUGdiSAi20ubLb9Y1Rcy2Z1FCzKoBYk+6Bznrvg7wfTWlnxCXdwNG0yqRqBbznN/ZxgHTF3egwUI12cAhG5T11HBW4ta2/I95F20aTLZwnifhCYOmj4OmEqhrB1FzY3uGvoRPN+JY2rUqF6zFmN7m1vynrHjziSJTyFrOTsOljPJmqhiQWIHJraeXeV43+zpUpJHT/Z/jCuKRc5F1IIUAhxyU+XWewAWnj32f0FGMQ3K+61gNQ17a9p7Am389Jn5UtM67FixIsyAQxIsQwJYyEWJAqWNOkZtHtrGtA1zUR5uxhFhAWEqmAaEBAyHAxwMbFAgA8QiCLAAhCIDAGDjkbagi3Ud54v418P8As6zth9UJuRexVj8WpvfW5np3H+KimhVSM3Oec8QxeZ8xINth0lTTT4LUJzycRXw5Q2YW/KRpYfvNDiRvpzv6zM52t6TV8nG16seG1112khW2n5REo9dL+stNTtqFv3lISxsq1EI12kDNrpe8uEaXtaxtEemNTv5RrhCwqkEa3IP7zrqXhLEJhhixVVcqhsqmzAb3zek5bL6/TzmvhvENZMO+GV/6T/2sLleoB6SK1ms8dnW+COOVQlVEp1a7m7ks2gJA5m9zYCJwjxa6MaVet7FCzZmYaobm6C+1pxXDOOVsNm9i5QPuNTflfsZn1sUXcuxuzNmJPMk3MF497LdpLg3fE/FUeofZVGdD/wCRybseguT9JnUyzqFLfDe3Ynf8hvKIG1tdtToN+UtUGIuSbEHQ3vsNbDnymiyRe1cHd/Z/gaq4pGdCqhDZiNDta31nrKmYvh9HfDUGqEZsgNhoCNct+mlptAzmum2abr0IsSLJGJEMWI0CWJGmEW8BoaIxo9ljGEDWXwJCNtCAaSiOsANfnyiGI6X0gYDlcEXBBHaKBGpSAOmg6cpIYDFiiMiiAaKZmcW4mKS2HxdNNB1knE8eKY/y5Dp3PaefcV4j7RmsLm/z8obprMrNYnFsbnJ1uNyes5fFVgD073mucFWqAZUCr+J2VB/xJzfSU34IuvtKyg8ggLfpLkm7+SYFe7G1tb/KTJhBva563mt9ywqNcs7sb3PwiPavhl0C38ydPpKbMVO/kYj0FXnaRvlO2w6mb68SokjJRBvoAAzMe9gLxj8Ypi4NNRY2sylT5WNtZU0S/Gvhz9xtv6xyAHoPIzYfi9Ikf0k26SP75QOmQDyjqhzH7Mt6a62vtax53kQwx11O2/QdJqOlI6i4tImoKAbNBUDkzhT11NtLac42rhCNVsecvIqnmJPRQg20IOnpK9hTKZ0X2Z8LpYg10qorJkGh6krt033neYDwNgqRutAMdLZiXAt0DbbzK+zPBoqVaqm7u5Vha2VRtoeWgndzCqbZrjGU0CgAAADYDQDtaOGkUxD+cgYv8/1Ev695nqHL3ZTm2zAjIF795fA+n80gAsQxYhgAyLaIxhAaQhEYwkkYzRlZwR+sI/MIQFg8RwERRHrERgRVjSYt9LxaNcgwlfFYkIpJ9JheIPF1LDgqrB37/CD3t+889qeLRVqgYl2yEnMU0Cg/gHL1vH2hzi7Om4vxRSSajhhY6A2+s5bF+JUpk5EH0JJ8+U5vjddPauKDs9PXIzn3iO+3KZJbpFMPeSPJ5k+Eb2I8Ru5JJOot8W3lMxuIPyY/vKRMG/SbYc/syw2JY8zz59RIw5tuYwm0CNLwSG2aPBOMPhaoq0wpI0IcXBFjp23jOL8VfE1XqvYFvwgAAbWA9BrKAgf0vKwfsxwPc7RA56xBDL9dIFkoqm2/1jlxL7XkBWKDyjSD4WUxXUXlhMb00maxiqIyPG8O04J4nq0G9x9DupAsfXlO94X48Vv/ALqZQiwLIc1vMED6XniKseRtLdHiLoRre23X5yHGnWrl9n0jhcWlRQyMGBF9DeWAf++08G4Vx/IRlYo3Jht3uu09B4L40Bslax2Gdf1G0hyxuN/E7e38/wCofza0hw+IVxmRgw6g3/1JjJ4Rm012ERhGrUF7c4wKbm+o5RAPiNBViX6wHLBpE0lJkLxopoTL3hG+kIycLYjo0RXcAXNtBfXbzki74EqOFFybAak30HczzzxV4wZg4ohxTU5WqKdC3QHkJU8b+LM7GlSYFVuL31JOl/zmLhsAGohWxFMFkf8Apa58zEEA9dFvLU52U/4ozKvC8XiFDpSLKQSuu4/EevPWc86Muh019RbQj53m/wAVSgEpK61PaLSsMhQKDc8jrvvOeqW5jX6bcrc5crfhhVENthbr8olooUki0f7PtBdmXDI5awWDeqwSmhdjyAuPU8pC6b6c5s8OQ/dq2S4a4z5dTkO5A5CTVMaXOFV+CV0cUzScOeQF9OZB5jqYuL4NWputN6TB3+ED3sw/x+eonQ0cI6UzkqPUDYapkWzIVsDmADAXvytK/CkYUqOZXCl6hIAs5RQytlH9p13mXs2a+qMfF8Cr0mVHptmf4Spvc75b9dNpFxHg9egFNVCobW/K/Q9503D6aAJ7BaiIXfMlTVmIQ5WUjcdec59qLilWzIRd0OoIuSzltduYmk0waSMylTLMoUe8TbTmY+vRZGKP7rKSGHS0n4UP61PQ2zr6a/lLviWifvFZrEqXazWK3169JTrGJLUQPwSstEV2UCn+K+vbT1jk4BiTTNUUWyWvtrb8QG9pNVp2wae7/wCZjexHLQA87zUak/31GCmwRdSDbLk1Bt3k+2CSMXDcCxFVDUSmSgG/W2+W+pmURa6876g8tdj3nX0f6z0ldKqVAvuV6dshF2ILLrte2nSczigQ7gkEh3uds1mOvrvrLl+zG5xaQERwES1/yiEGavQ4wtYLCvVbIgJNi1uVlte/zmrwTB16txSF8liQxsBre1zsZZ8LYVVSpVeslEEqgdwzBtbsqhfSW8Rh6dI4r2meqjsjBqbKtw5LKVz7n3tpDfwuXS+mnwzjFXDPlYsj7lGPuOL7gbHznpHBOOJiVsNHG6k9enaeGY7HK2RaSNTRFIAY5nN9SWN7egl3hfFWQrq1xqpG4PXyg/Hptqpf6e9IgFgLi2wv+cknM+GPEgrqqOQH5Hk3lOlvMaly+TOlgnONIimBkhPY0yF5K0hMZtg2EW/aEYsZanEfaB4i9mvsEIztYsb/AAjkCO86viuMFCi9U7IpOvMgbDznhXG8W1WozuPec/ltNPFCp8mX4rV2UK75vettqdLWudD5aRWxztU9oWu+hzW2KiwHyjG1vexOoJ6gyMpzsAdLWm9SjCrbZJjcU9Q5na51A02B1P1Mp26yx3tbeNyiYt+vRDbIhTH7W38zHKvMg2taWcPhWf4FvrqSbaDuZafCohuxzEDUDVR27zJ0NJGQFvfc9xtLnD61ak4emWRuR11PQjmJZq4hALKlrDppK33g7hrR7qE29LjV6+f2zVnzjUPcixO4tsF7QxOPqPVFV6xLrazgmw/9baDylI1ST07mREm99xv69okkN0zSx/FHquHq1nZ1HulSQF7joZBxDitXEBBVql8o0HL1HMytlvr/AAxn8vz+UaWMmnT6EovlZWVrFTcH8NudpvY7xDia6FKlZXRtCLKDbreYIte43gT/AC8rE2T7VKNbE8ZxD0fYtUDU1sAthy+GQDimJFP2Ptn9l+EE79AekoA303/Id5OGte9jb0/3GpQKqzR+H4xiKdNqSVHVGOq3NvNem0z9vTf9TLTBbnSwlmnhkIGtj1lqUip8jawzhrtqIpFtrfnNOhgEDoahOQMM5XUhethL3iY4NnUYPOFVTnzBt9LWuPOXpojFOLcoKdzkU5gOhO5k9biVR0yM5ZfdGXllTRflK0VBruY1K7K9n0PNuQt9dPOCLaxBPr2iqLXsP52isOXMazSVyHtnJr8L4gUZTmI1v1KnsZ7D4W44MSgzaOPiHUW0Ydt54Wr2tY6zofDfGWo1FJYgA6kDcX2PUSPN4/ZGqr2XJ7faIIzDV1dFddQwBB848ziawX0axkTSUmNaBstwjvCOhDQ1nMfaI5+7qOROvptPJKyDXzhCdHhM6/EiFMWHlGFB+UIR0cr7EGpN+su8OwiEi45whMaB9jsRiG1AsBrtpKxp9yPIwhMxsYUBOsY1MC9hCEpEUNCAnWFVANosJRKGGkM1uUVkEIQLQ1UEHpiw05whGhV0LSQfX9REdBcjl/qEJaJXQ0/ERyv+knTlCEoUFig5+X7iXWw6upJGqnS2kIQNl2ZeJphSbSIDSJCWg+k1OOGwPMk3hCaSNj6iC/pJMG5+kISr6Kk9c+z3FM9EhjcLt21nVjaEJ5tdmv0bI2hCIpiRYQgI/9k="/>
          <p:cNvSpPr>
            <a:spLocks noChangeAspect="1" noChangeArrowheads="1"/>
          </p:cNvSpPr>
          <p:nvPr/>
        </p:nvSpPr>
        <p:spPr bwMode="auto">
          <a:xfrm>
            <a:off x="1298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1058711" y="1652851"/>
            <a:ext cx="10259561" cy="696839"/>
          </a:xfrm>
          <a:prstGeom prst="rect">
            <a:avLst/>
          </a:prstGeom>
          <a:solidFill>
            <a:srgbClr val="FDCF09"/>
          </a:solidFill>
          <a:ln>
            <a:solidFill>
              <a:srgbClr val="F6D1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1776990" y="2001270"/>
            <a:ext cx="9157108" cy="331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Aft>
                <a:spcPts val="600"/>
              </a:spcAft>
            </a:pPr>
            <a:r>
              <a:rPr lang="ru-RU" sz="1600" dirty="0">
                <a:latin typeface="Segoe UI" panose="020B0502040204020203" pitchFamily="34" charset="0"/>
                <a:cs typeface="Segoe UI" panose="020B0502040204020203" pitchFamily="34" charset="0"/>
              </a:rPr>
              <a:t>Разработать программу позволяющую автоматически обрабатывать видеопоток в ИК-спектре</a:t>
            </a:r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712" y="1755081"/>
            <a:ext cx="492378" cy="492378"/>
          </a:xfrm>
          <a:prstGeom prst="rect">
            <a:avLst/>
          </a:prstGeom>
        </p:spPr>
      </p:pic>
      <p:sp>
        <p:nvSpPr>
          <p:cNvPr id="37" name="Прямоугольник 36"/>
          <p:cNvSpPr/>
          <p:nvPr/>
        </p:nvSpPr>
        <p:spPr>
          <a:xfrm>
            <a:off x="1891696" y="2650905"/>
            <a:ext cx="9426575" cy="6968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Объект 5"/>
          <p:cNvSpPr txBox="1">
            <a:spLocks/>
          </p:cNvSpPr>
          <p:nvPr/>
        </p:nvSpPr>
        <p:spPr>
          <a:xfrm>
            <a:off x="2567170" y="2994099"/>
            <a:ext cx="4252127" cy="349947"/>
          </a:xfrm>
          <a:prstGeom prst="rect">
            <a:avLst/>
          </a:prstGeom>
          <a:noFill/>
          <a:ln w="6350">
            <a:noFill/>
          </a:ln>
        </p:spPr>
        <p:txBody>
          <a:bodyPr anchor="ctr"/>
          <a:lstStyle>
            <a:defPPr>
              <a:defRPr lang="ru-RU"/>
            </a:defPPr>
            <a:lvl1pPr marL="0" indent="0" algn="ctr" eaLnBrk="0" hangingPunct="0">
              <a:spcBef>
                <a:spcPct val="20000"/>
              </a:spcBef>
              <a:buSzPct val="80000"/>
              <a:buNone/>
              <a:defRPr sz="1200"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ED208"/>
              </a:buClr>
              <a:buSzPct val="120000"/>
              <a:buFont typeface="Arial" charset="0"/>
              <a:buChar char="•"/>
              <a:defRPr sz="1200">
                <a:solidFill>
                  <a:srgbClr val="3D464A"/>
                </a:solidFill>
                <a:latin typeface="Europe" pitchFamily="50" charset="-52"/>
                <a:cs typeface="+mn-cs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FED208"/>
              </a:buClr>
              <a:buSzPct val="96000"/>
              <a:buFont typeface="Wingdings" pitchFamily="2" charset="2"/>
              <a:buChar char="§"/>
              <a:defRPr sz="1200">
                <a:solidFill>
                  <a:srgbClr val="3D464A"/>
                </a:solidFill>
                <a:latin typeface="Europe" pitchFamily="50" charset="-52"/>
                <a:cs typeface="+mn-cs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1200">
                <a:solidFill>
                  <a:srgbClr val="3D464A"/>
                </a:solidFill>
                <a:latin typeface="Europe" pitchFamily="50" charset="-52"/>
                <a:cs typeface="+mn-cs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defRPr sz="1200">
                <a:solidFill>
                  <a:srgbClr val="3D464A"/>
                </a:solidFill>
                <a:latin typeface="Europe" pitchFamily="50" charset="-52"/>
                <a:cs typeface="+mn-cs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cs typeface="+mn-cs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cs typeface="+mn-cs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cs typeface="+mn-cs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cs typeface="+mn-cs"/>
              </a:defRPr>
            </a:lvl9pPr>
          </a:lstStyle>
          <a:p>
            <a:pPr algn="l">
              <a:lnSpc>
                <a:spcPts val="2000"/>
              </a:lnSpc>
            </a:pPr>
            <a:r>
              <a:rPr lang="ru-RU" sz="1600" dirty="0">
                <a:latin typeface="Segoe UI" panose="020B0502040204020203" pitchFamily="34" charset="0"/>
                <a:cs typeface="Segoe UI" panose="020B0502040204020203" pitchFamily="34" charset="0"/>
              </a:rPr>
              <a:t>Определить критерии выявления дефектов</a:t>
            </a:r>
          </a:p>
        </p:txBody>
      </p:sp>
      <p:pic>
        <p:nvPicPr>
          <p:cNvPr id="40" name="Рисунок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9392" y="2781809"/>
            <a:ext cx="435030" cy="43503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EDFAE21-99ED-41B0-9DAB-65F9999FCABC}"/>
              </a:ext>
            </a:extLst>
          </p:cNvPr>
          <p:cNvSpPr txBox="1"/>
          <p:nvPr/>
        </p:nvSpPr>
        <p:spPr>
          <a:xfrm>
            <a:off x="947266" y="648419"/>
            <a:ext cx="10882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2813">
              <a:tabLst>
                <a:tab pos="2686050" algn="l"/>
              </a:tabLst>
            </a:pPr>
            <a:r>
              <a:rPr lang="ru-RU" sz="2800" b="1" dirty="0">
                <a:solidFill>
                  <a:srgbClr val="1F232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ЦЕЛЬ И ЗАДАЧИ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6E4C0E7C-9554-4D7D-964A-B1066E66A051}"/>
              </a:ext>
            </a:extLst>
          </p:cNvPr>
          <p:cNvSpPr/>
          <p:nvPr/>
        </p:nvSpPr>
        <p:spPr>
          <a:xfrm>
            <a:off x="1058711" y="530146"/>
            <a:ext cx="1885315" cy="53051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DE306D3E-F557-4A48-993D-B624DC47F21A}"/>
              </a:ext>
            </a:extLst>
          </p:cNvPr>
          <p:cNvSpPr/>
          <p:nvPr/>
        </p:nvSpPr>
        <p:spPr>
          <a:xfrm>
            <a:off x="1776989" y="1722131"/>
            <a:ext cx="952908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Aft>
                <a:spcPts val="600"/>
              </a:spcAft>
            </a:pPr>
            <a:r>
              <a:rPr lang="ru-RU" b="1" dirty="0">
                <a:latin typeface="Segoe UI" panose="020B0502040204020203" pitchFamily="34" charset="0"/>
                <a:cs typeface="Segoe UI" panose="020B0502040204020203" pitchFamily="34" charset="0"/>
              </a:rPr>
              <a:t>ЦЕЛЬ</a:t>
            </a:r>
            <a:endParaRPr lang="ru-RU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60D06143-93DF-43B6-999E-988DAF63A49F}"/>
              </a:ext>
            </a:extLst>
          </p:cNvPr>
          <p:cNvCxnSpPr>
            <a:cxnSpLocks/>
          </p:cNvCxnSpPr>
          <p:nvPr/>
        </p:nvCxnSpPr>
        <p:spPr>
          <a:xfrm>
            <a:off x="1423256" y="2361567"/>
            <a:ext cx="0" cy="3024821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Прямая соединительная линия 42">
            <a:extLst>
              <a:ext uri="{FF2B5EF4-FFF2-40B4-BE49-F238E27FC236}">
                <a16:creationId xmlns:a16="http://schemas.microsoft.com/office/drawing/2014/main" id="{5FED0B22-379C-416E-9C13-E94781EA61A6}"/>
              </a:ext>
            </a:extLst>
          </p:cNvPr>
          <p:cNvCxnSpPr>
            <a:cxnSpLocks/>
          </p:cNvCxnSpPr>
          <p:nvPr/>
        </p:nvCxnSpPr>
        <p:spPr>
          <a:xfrm>
            <a:off x="1423256" y="2913769"/>
            <a:ext cx="468441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B312317A-2A2B-4B3B-826A-AB17D8C6AAE7}"/>
              </a:ext>
            </a:extLst>
          </p:cNvPr>
          <p:cNvSpPr/>
          <p:nvPr/>
        </p:nvSpPr>
        <p:spPr>
          <a:xfrm>
            <a:off x="2567170" y="2698834"/>
            <a:ext cx="1381927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Aft>
                <a:spcPts val="600"/>
              </a:spcAft>
            </a:pPr>
            <a:r>
              <a:rPr lang="ru-RU" b="1" dirty="0">
                <a:latin typeface="Segoe UI" panose="020B0502040204020203" pitchFamily="34" charset="0"/>
                <a:cs typeface="Segoe UI" panose="020B0502040204020203" pitchFamily="34" charset="0"/>
              </a:rPr>
              <a:t>ЗАДАЧА 1</a:t>
            </a:r>
            <a:endParaRPr lang="ru-RU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7B0A628E-02AF-4E2A-AD92-E8A9ACF1EC0A}"/>
              </a:ext>
            </a:extLst>
          </p:cNvPr>
          <p:cNvSpPr/>
          <p:nvPr/>
        </p:nvSpPr>
        <p:spPr>
          <a:xfrm>
            <a:off x="1891696" y="3885737"/>
            <a:ext cx="9426575" cy="6968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Объект 5">
            <a:extLst>
              <a:ext uri="{FF2B5EF4-FFF2-40B4-BE49-F238E27FC236}">
                <a16:creationId xmlns:a16="http://schemas.microsoft.com/office/drawing/2014/main" id="{7ED3F6DE-C941-47C2-B341-CEB0D5198F0A}"/>
              </a:ext>
            </a:extLst>
          </p:cNvPr>
          <p:cNvSpPr txBox="1">
            <a:spLocks/>
          </p:cNvSpPr>
          <p:nvPr/>
        </p:nvSpPr>
        <p:spPr>
          <a:xfrm>
            <a:off x="2567170" y="4228931"/>
            <a:ext cx="4252127" cy="349947"/>
          </a:xfrm>
          <a:prstGeom prst="rect">
            <a:avLst/>
          </a:prstGeom>
          <a:noFill/>
          <a:ln w="6350">
            <a:noFill/>
          </a:ln>
        </p:spPr>
        <p:txBody>
          <a:bodyPr anchor="ctr"/>
          <a:lstStyle>
            <a:defPPr>
              <a:defRPr lang="ru-RU"/>
            </a:defPPr>
            <a:lvl1pPr marL="0" indent="0" algn="ctr" eaLnBrk="0" hangingPunct="0">
              <a:spcBef>
                <a:spcPct val="20000"/>
              </a:spcBef>
              <a:buSzPct val="80000"/>
              <a:buNone/>
              <a:defRPr sz="1200"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ED208"/>
              </a:buClr>
              <a:buSzPct val="120000"/>
              <a:buFont typeface="Arial" charset="0"/>
              <a:buChar char="•"/>
              <a:defRPr sz="1200">
                <a:solidFill>
                  <a:srgbClr val="3D464A"/>
                </a:solidFill>
                <a:latin typeface="Europe" pitchFamily="50" charset="-52"/>
                <a:cs typeface="+mn-cs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FED208"/>
              </a:buClr>
              <a:buSzPct val="96000"/>
              <a:buFont typeface="Wingdings" pitchFamily="2" charset="2"/>
              <a:buChar char="§"/>
              <a:defRPr sz="1200">
                <a:solidFill>
                  <a:srgbClr val="3D464A"/>
                </a:solidFill>
                <a:latin typeface="Europe" pitchFamily="50" charset="-52"/>
                <a:cs typeface="+mn-cs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1200">
                <a:solidFill>
                  <a:srgbClr val="3D464A"/>
                </a:solidFill>
                <a:latin typeface="Europe" pitchFamily="50" charset="-52"/>
                <a:cs typeface="+mn-cs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defRPr sz="1200">
                <a:solidFill>
                  <a:srgbClr val="3D464A"/>
                </a:solidFill>
                <a:latin typeface="Europe" pitchFamily="50" charset="-52"/>
                <a:cs typeface="+mn-cs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cs typeface="+mn-cs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cs typeface="+mn-cs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cs typeface="+mn-cs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cs typeface="+mn-cs"/>
              </a:defRPr>
            </a:lvl9pPr>
          </a:lstStyle>
          <a:p>
            <a:pPr algn="l">
              <a:lnSpc>
                <a:spcPts val="2000"/>
              </a:lnSpc>
            </a:pPr>
            <a:r>
              <a:rPr lang="ru-RU" sz="1600" dirty="0">
                <a:latin typeface="Segoe UI" panose="020B0502040204020203" pitchFamily="34" charset="0"/>
                <a:cs typeface="Segoe UI" panose="020B0502040204020203" pitchFamily="34" charset="0"/>
              </a:rPr>
              <a:t>Определить критерии выявления дефектов</a:t>
            </a:r>
          </a:p>
        </p:txBody>
      </p:sp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306C9140-6A69-4EAB-A655-6124DCB908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9392" y="4016641"/>
            <a:ext cx="435030" cy="435030"/>
          </a:xfrm>
          <a:prstGeom prst="rect">
            <a:avLst/>
          </a:prstGeom>
        </p:spPr>
      </p:pic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id="{3690D733-A9F1-4475-AE03-9AB68004D69C}"/>
              </a:ext>
            </a:extLst>
          </p:cNvPr>
          <p:cNvCxnSpPr>
            <a:cxnSpLocks/>
          </p:cNvCxnSpPr>
          <p:nvPr/>
        </p:nvCxnSpPr>
        <p:spPr>
          <a:xfrm>
            <a:off x="1423256" y="4253376"/>
            <a:ext cx="468441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E4B38662-3998-410C-927D-11311857D951}"/>
              </a:ext>
            </a:extLst>
          </p:cNvPr>
          <p:cNvSpPr/>
          <p:nvPr/>
        </p:nvSpPr>
        <p:spPr>
          <a:xfrm>
            <a:off x="2567170" y="3933666"/>
            <a:ext cx="1381927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Aft>
                <a:spcPts val="600"/>
              </a:spcAft>
            </a:pPr>
            <a:r>
              <a:rPr lang="ru-RU" b="1" dirty="0">
                <a:latin typeface="Segoe UI" panose="020B0502040204020203" pitchFamily="34" charset="0"/>
                <a:cs typeface="Segoe UI" panose="020B0502040204020203" pitchFamily="34" charset="0"/>
              </a:rPr>
              <a:t>ЗАДАЧА 1</a:t>
            </a:r>
            <a:endParaRPr lang="ru-RU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5CCDC38E-BE5A-4F25-B381-3759D8F54F3F}"/>
              </a:ext>
            </a:extLst>
          </p:cNvPr>
          <p:cNvSpPr/>
          <p:nvPr/>
        </p:nvSpPr>
        <p:spPr>
          <a:xfrm>
            <a:off x="1891696" y="5086350"/>
            <a:ext cx="9426575" cy="6968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Объект 5">
            <a:extLst>
              <a:ext uri="{FF2B5EF4-FFF2-40B4-BE49-F238E27FC236}">
                <a16:creationId xmlns:a16="http://schemas.microsoft.com/office/drawing/2014/main" id="{015F32C3-CD64-49CF-9F84-60687536FE38}"/>
              </a:ext>
            </a:extLst>
          </p:cNvPr>
          <p:cNvSpPr txBox="1">
            <a:spLocks/>
          </p:cNvSpPr>
          <p:nvPr/>
        </p:nvSpPr>
        <p:spPr>
          <a:xfrm>
            <a:off x="2567170" y="5429544"/>
            <a:ext cx="4252127" cy="349947"/>
          </a:xfrm>
          <a:prstGeom prst="rect">
            <a:avLst/>
          </a:prstGeom>
          <a:noFill/>
          <a:ln w="6350">
            <a:noFill/>
          </a:ln>
        </p:spPr>
        <p:txBody>
          <a:bodyPr anchor="ctr"/>
          <a:lstStyle>
            <a:defPPr>
              <a:defRPr lang="ru-RU"/>
            </a:defPPr>
            <a:lvl1pPr marL="0" indent="0" algn="ctr" eaLnBrk="0" hangingPunct="0">
              <a:spcBef>
                <a:spcPct val="20000"/>
              </a:spcBef>
              <a:buSzPct val="80000"/>
              <a:buNone/>
              <a:defRPr sz="1200"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ED208"/>
              </a:buClr>
              <a:buSzPct val="120000"/>
              <a:buFont typeface="Arial" charset="0"/>
              <a:buChar char="•"/>
              <a:defRPr sz="1200">
                <a:solidFill>
                  <a:srgbClr val="3D464A"/>
                </a:solidFill>
                <a:latin typeface="Europe" pitchFamily="50" charset="-52"/>
                <a:cs typeface="+mn-cs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FED208"/>
              </a:buClr>
              <a:buSzPct val="96000"/>
              <a:buFont typeface="Wingdings" pitchFamily="2" charset="2"/>
              <a:buChar char="§"/>
              <a:defRPr sz="1200">
                <a:solidFill>
                  <a:srgbClr val="3D464A"/>
                </a:solidFill>
                <a:latin typeface="Europe" pitchFamily="50" charset="-52"/>
                <a:cs typeface="+mn-cs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1200">
                <a:solidFill>
                  <a:srgbClr val="3D464A"/>
                </a:solidFill>
                <a:latin typeface="Europe" pitchFamily="50" charset="-52"/>
                <a:cs typeface="+mn-cs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defRPr sz="1200">
                <a:solidFill>
                  <a:srgbClr val="3D464A"/>
                </a:solidFill>
                <a:latin typeface="Europe" pitchFamily="50" charset="-52"/>
                <a:cs typeface="+mn-cs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cs typeface="+mn-cs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cs typeface="+mn-cs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cs typeface="+mn-cs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  <a:cs typeface="+mn-cs"/>
              </a:defRPr>
            </a:lvl9pPr>
          </a:lstStyle>
          <a:p>
            <a:pPr algn="l">
              <a:lnSpc>
                <a:spcPts val="2000"/>
              </a:lnSpc>
            </a:pPr>
            <a:r>
              <a:rPr lang="ru-RU" sz="1600" dirty="0">
                <a:latin typeface="Segoe UI" panose="020B0502040204020203" pitchFamily="34" charset="0"/>
                <a:cs typeface="Segoe UI" panose="020B0502040204020203" pitchFamily="34" charset="0"/>
              </a:rPr>
              <a:t>Определить критерии выявления дефектов</a:t>
            </a:r>
          </a:p>
        </p:txBody>
      </p:sp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5DFC4C3A-D34B-4D1C-9017-45BBCDE322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9392" y="5217254"/>
            <a:ext cx="435030" cy="435030"/>
          </a:xfrm>
          <a:prstGeom prst="rect">
            <a:avLst/>
          </a:prstGeom>
        </p:spPr>
      </p:pic>
      <p:cxnSp>
        <p:nvCxnSpPr>
          <p:cNvPr id="54" name="Прямая соединительная линия 53">
            <a:extLst>
              <a:ext uri="{FF2B5EF4-FFF2-40B4-BE49-F238E27FC236}">
                <a16:creationId xmlns:a16="http://schemas.microsoft.com/office/drawing/2014/main" id="{2C4B27D3-D0B3-4683-A785-2EADE46A4991}"/>
              </a:ext>
            </a:extLst>
          </p:cNvPr>
          <p:cNvCxnSpPr>
            <a:cxnSpLocks/>
          </p:cNvCxnSpPr>
          <p:nvPr/>
        </p:nvCxnSpPr>
        <p:spPr>
          <a:xfrm>
            <a:off x="1423256" y="5358740"/>
            <a:ext cx="468441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F36ACBE2-BEE7-4E7E-A484-8801910778CB}"/>
              </a:ext>
            </a:extLst>
          </p:cNvPr>
          <p:cNvSpPr/>
          <p:nvPr/>
        </p:nvSpPr>
        <p:spPr>
          <a:xfrm>
            <a:off x="2567170" y="5134279"/>
            <a:ext cx="1381927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Aft>
                <a:spcPts val="600"/>
              </a:spcAft>
            </a:pPr>
            <a:r>
              <a:rPr lang="ru-RU" b="1" dirty="0">
                <a:latin typeface="Segoe UI" panose="020B0502040204020203" pitchFamily="34" charset="0"/>
                <a:cs typeface="Segoe UI" panose="020B0502040204020203" pitchFamily="34" charset="0"/>
              </a:rPr>
              <a:t>ЗАДАЧА 1</a:t>
            </a:r>
            <a:endParaRPr lang="ru-RU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7447943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47" grpId="0"/>
      <p:bldP spid="35" grpId="0"/>
      <p:bldP spid="44" grpId="0"/>
      <p:bldP spid="46" grpId="0"/>
      <p:bldP spid="50" grpId="0"/>
      <p:bldP spid="52" grpId="0"/>
      <p:bldP spid="5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FEDFAE21-99ED-41B0-9DAB-65F9999FCABC}"/>
              </a:ext>
            </a:extLst>
          </p:cNvPr>
          <p:cNvSpPr txBox="1"/>
          <p:nvPr/>
        </p:nvSpPr>
        <p:spPr>
          <a:xfrm>
            <a:off x="473441" y="289485"/>
            <a:ext cx="10882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2813">
              <a:tabLst>
                <a:tab pos="2686050" algn="l"/>
              </a:tabLst>
            </a:pPr>
            <a:r>
              <a:rPr lang="ru-RU" sz="2800" b="1" dirty="0">
                <a:solidFill>
                  <a:srgbClr val="1F232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ПРОБЛЕМА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E4C0E7C-9554-4D7D-964A-B1066E66A051}"/>
              </a:ext>
            </a:extLst>
          </p:cNvPr>
          <p:cNvSpPr/>
          <p:nvPr/>
        </p:nvSpPr>
        <p:spPr>
          <a:xfrm>
            <a:off x="584886" y="171212"/>
            <a:ext cx="1885315" cy="53051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473441" y="699478"/>
            <a:ext cx="7586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Заполнение фактических данных по транспортным средствам</a:t>
            </a:r>
            <a:r>
              <a:rPr lang="en-US" dirty="0"/>
              <a:t> </a:t>
            </a:r>
            <a:r>
              <a:rPr lang="ru-RU" dirty="0"/>
              <a:t>в ИС ЕКТП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015" y="1209104"/>
            <a:ext cx="4987636" cy="1751305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453" y="3102537"/>
            <a:ext cx="4981669" cy="1737434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17" name="Правая фигурная скобка 16"/>
          <p:cNvSpPr/>
          <p:nvPr/>
        </p:nvSpPr>
        <p:spPr>
          <a:xfrm rot="5400000">
            <a:off x="2998689" y="3473584"/>
            <a:ext cx="369332" cy="4981669"/>
          </a:xfrm>
          <a:prstGeom prst="rightBrace">
            <a:avLst>
              <a:gd name="adj1" fmla="val 8333"/>
              <a:gd name="adj2" fmla="val 49489"/>
            </a:avLst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/>
          <p:cNvSpPr txBox="1"/>
          <p:nvPr/>
        </p:nvSpPr>
        <p:spPr>
          <a:xfrm>
            <a:off x="1299877" y="6267580"/>
            <a:ext cx="4374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/>
              <a:t> ≈ 600 ТС ОДИН КОНТРАГЕНТ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99040" y="5262257"/>
            <a:ext cx="25686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n </a:t>
            </a:r>
            <a:r>
              <a:rPr lang="ru-RU" b="1" dirty="0"/>
              <a:t>ТРАНСПОРТНЫХ СРЕДСТВ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3752" y="6036498"/>
            <a:ext cx="569471" cy="56947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40827" y="6535615"/>
            <a:ext cx="17532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Инженер по ТС</a:t>
            </a:r>
          </a:p>
        </p:txBody>
      </p:sp>
      <p:sp>
        <p:nvSpPr>
          <p:cNvPr id="20" name="Стрелка вправо 13">
            <a:extLst>
              <a:ext uri="{FF2B5EF4-FFF2-40B4-BE49-F238E27FC236}">
                <a16:creationId xmlns:a16="http://schemas.microsoft.com/office/drawing/2014/main" id="{8F10E4ED-16AD-4D7D-AFC0-DDF16DDBDF27}"/>
              </a:ext>
            </a:extLst>
          </p:cNvPr>
          <p:cNvSpPr/>
          <p:nvPr/>
        </p:nvSpPr>
        <p:spPr>
          <a:xfrm rot="5400000">
            <a:off x="2996574" y="4891422"/>
            <a:ext cx="373561" cy="45741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CF3A1E8-ED54-417D-9223-2F4F4A71014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43" r="50859" b="11771"/>
          <a:stretch/>
        </p:blipFill>
        <p:spPr>
          <a:xfrm>
            <a:off x="5933240" y="1202999"/>
            <a:ext cx="6011110" cy="51182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BB7BC3D-D72B-4678-B203-C8493E7F29D7}"/>
              </a:ext>
            </a:extLst>
          </p:cNvPr>
          <p:cNvSpPr txBox="1"/>
          <p:nvPr/>
        </p:nvSpPr>
        <p:spPr>
          <a:xfrm>
            <a:off x="8323812" y="6309241"/>
            <a:ext cx="2190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Пример карточки ТС</a:t>
            </a:r>
          </a:p>
        </p:txBody>
      </p:sp>
      <p:sp>
        <p:nvSpPr>
          <p:cNvPr id="9" name="Стрелка: изогнутая 8">
            <a:extLst>
              <a:ext uri="{FF2B5EF4-FFF2-40B4-BE49-F238E27FC236}">
                <a16:creationId xmlns:a16="http://schemas.microsoft.com/office/drawing/2014/main" id="{139C8119-E8D3-4D15-B749-A5A37AC59552}"/>
              </a:ext>
            </a:extLst>
          </p:cNvPr>
          <p:cNvSpPr/>
          <p:nvPr/>
        </p:nvSpPr>
        <p:spPr>
          <a:xfrm rot="16200000" flipH="1" flipV="1">
            <a:off x="7183418" y="2981111"/>
            <a:ext cx="895350" cy="416153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561393-7F52-4100-9196-92715E86967A}"/>
              </a:ext>
            </a:extLst>
          </p:cNvPr>
          <p:cNvSpPr txBox="1"/>
          <p:nvPr/>
        </p:nvSpPr>
        <p:spPr>
          <a:xfrm>
            <a:off x="6440673" y="2088817"/>
            <a:ext cx="12906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highlight>
                  <a:srgbClr val="F2F2F2"/>
                </a:highlight>
              </a:rPr>
              <a:t>Селектор даты</a:t>
            </a:r>
            <a:r>
              <a:rPr lang="en-US" b="1" dirty="0">
                <a:highlight>
                  <a:srgbClr val="F2F2F2"/>
                </a:highlight>
              </a:rPr>
              <a:t>, </a:t>
            </a:r>
            <a:r>
              <a:rPr lang="ru-RU" b="1" dirty="0">
                <a:highlight>
                  <a:srgbClr val="F2F2F2"/>
                </a:highlight>
              </a:rPr>
              <a:t>час</a:t>
            </a:r>
            <a:r>
              <a:rPr lang="en-US" b="1" dirty="0">
                <a:highlight>
                  <a:srgbClr val="F2F2F2"/>
                </a:highlight>
              </a:rPr>
              <a:t>,</a:t>
            </a:r>
            <a:r>
              <a:rPr lang="ru-RU" b="1" dirty="0">
                <a:highlight>
                  <a:srgbClr val="F2F2F2"/>
                </a:highlight>
              </a:rPr>
              <a:t> мин</a:t>
            </a:r>
            <a:r>
              <a:rPr lang="en-US" b="1" dirty="0">
                <a:highlight>
                  <a:srgbClr val="F2F2F2"/>
                </a:highlight>
              </a:rPr>
              <a:t>.</a:t>
            </a:r>
            <a:endParaRPr lang="ru-RU" b="1" dirty="0">
              <a:highlight>
                <a:srgbClr val="F2F2F2"/>
              </a:highlight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95D90F-A114-44FC-9237-3EC9758D3584}"/>
              </a:ext>
            </a:extLst>
          </p:cNvPr>
          <p:cNvSpPr txBox="1"/>
          <p:nvPr/>
        </p:nvSpPr>
        <p:spPr>
          <a:xfrm>
            <a:off x="9534647" y="4320479"/>
            <a:ext cx="1525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highlight>
                  <a:srgbClr val="F2F2F2"/>
                </a:highlight>
              </a:rPr>
              <a:t>Обновление данных</a:t>
            </a:r>
          </a:p>
        </p:txBody>
      </p:sp>
      <p:sp>
        <p:nvSpPr>
          <p:cNvPr id="11" name="Стрелка: вниз 10">
            <a:extLst>
              <a:ext uri="{FF2B5EF4-FFF2-40B4-BE49-F238E27FC236}">
                <a16:creationId xmlns:a16="http://schemas.microsoft.com/office/drawing/2014/main" id="{EBE8C883-161A-49EF-AAAC-E6B8C19252FD}"/>
              </a:ext>
            </a:extLst>
          </p:cNvPr>
          <p:cNvSpPr/>
          <p:nvPr/>
        </p:nvSpPr>
        <p:spPr>
          <a:xfrm>
            <a:off x="10239504" y="4985258"/>
            <a:ext cx="222640" cy="92333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1C6F912-EFDD-4C43-880D-C36AA705F3E6}"/>
              </a:ext>
            </a:extLst>
          </p:cNvPr>
          <p:cNvSpPr/>
          <p:nvPr/>
        </p:nvSpPr>
        <p:spPr>
          <a:xfrm>
            <a:off x="6719471" y="5411915"/>
            <a:ext cx="2023678" cy="470855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0D33C3-8C02-46E2-96E2-E90814FE4796}"/>
              </a:ext>
            </a:extLst>
          </p:cNvPr>
          <p:cNvSpPr txBox="1"/>
          <p:nvPr/>
        </p:nvSpPr>
        <p:spPr>
          <a:xfrm>
            <a:off x="7011769" y="5882770"/>
            <a:ext cx="1525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highlight>
                  <a:srgbClr val="F2F2F2"/>
                </a:highlight>
              </a:rPr>
              <a:t>Факт</a:t>
            </a:r>
            <a:r>
              <a:rPr lang="en-US" b="1" dirty="0">
                <a:highlight>
                  <a:srgbClr val="F2F2F2"/>
                </a:highlight>
              </a:rPr>
              <a:t>.</a:t>
            </a:r>
            <a:r>
              <a:rPr lang="ru-RU" b="1" dirty="0">
                <a:highlight>
                  <a:srgbClr val="F2F2F2"/>
                </a:highlight>
              </a:rPr>
              <a:t>данные</a:t>
            </a:r>
          </a:p>
        </p:txBody>
      </p:sp>
    </p:spTree>
    <p:extLst>
      <p:ext uri="{BB962C8B-B14F-4D97-AF65-F5344CB8AC3E}">
        <p14:creationId xmlns:p14="http://schemas.microsoft.com/office/powerpoint/2010/main" val="1752104428"/>
      </p:ext>
    </p:extLst>
  </p:cSld>
  <p:clrMapOvr>
    <a:masterClrMapping/>
  </p:clrMapOvr>
  <p:transition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FEDFAE21-99ED-41B0-9DAB-65F9999FCABC}"/>
              </a:ext>
            </a:extLst>
          </p:cNvPr>
          <p:cNvSpPr txBox="1"/>
          <p:nvPr/>
        </p:nvSpPr>
        <p:spPr>
          <a:xfrm>
            <a:off x="473441" y="289485"/>
            <a:ext cx="10882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2813">
              <a:tabLst>
                <a:tab pos="2686050" algn="l"/>
              </a:tabLst>
            </a:pPr>
            <a:r>
              <a:rPr lang="ru-RU" sz="2800" b="1" dirty="0">
                <a:solidFill>
                  <a:srgbClr val="1F232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ПРОБЛЕМА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E4C0E7C-9554-4D7D-964A-B1066E66A051}"/>
              </a:ext>
            </a:extLst>
          </p:cNvPr>
          <p:cNvSpPr/>
          <p:nvPr/>
        </p:nvSpPr>
        <p:spPr>
          <a:xfrm>
            <a:off x="584886" y="171212"/>
            <a:ext cx="1885315" cy="53051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473441" y="699478"/>
            <a:ext cx="7586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Источник данных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4569" y="549235"/>
            <a:ext cx="4466786" cy="595829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473441" y="1222698"/>
            <a:ext cx="75865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Необходимые данные</a:t>
            </a:r>
          </a:p>
          <a:p>
            <a:r>
              <a:rPr lang="ru-RU" dirty="0"/>
              <a:t>для заполнения: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3441" y="2084635"/>
            <a:ext cx="1471878" cy="64633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ru-RU" dirty="0"/>
              <a:t>Гос. Номер</a:t>
            </a:r>
            <a:br>
              <a:rPr lang="ru-RU" dirty="0"/>
            </a:br>
            <a:r>
              <a:rPr lang="ru-RU" dirty="0"/>
              <a:t>(К 876 ОК 18)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441" y="3137485"/>
            <a:ext cx="1377300" cy="64633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>
            <a:defPPr>
              <a:defRPr lang="ru-RU"/>
            </a:defPPr>
          </a:lstStyle>
          <a:p>
            <a:r>
              <a:rPr lang="ru-RU" dirty="0"/>
              <a:t>Дата</a:t>
            </a:r>
            <a:br>
              <a:rPr lang="ru-RU" dirty="0"/>
            </a:br>
            <a:r>
              <a:rPr lang="ru-RU" dirty="0"/>
              <a:t>(31.12.9999)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3441" y="4190335"/>
            <a:ext cx="2584875" cy="64633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>
            <a:defPPr>
              <a:defRPr lang="ru-RU"/>
            </a:defPPr>
          </a:lstStyle>
          <a:p>
            <a:r>
              <a:rPr lang="ru-RU" dirty="0"/>
              <a:t>Пройденное расстояние</a:t>
            </a:r>
          </a:p>
          <a:p>
            <a:r>
              <a:rPr lang="ru-RU" dirty="0"/>
              <a:t>(100 км)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3441" y="5243185"/>
            <a:ext cx="1640385" cy="64633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>
            <a:defPPr>
              <a:defRPr lang="ru-RU"/>
            </a:defPPr>
          </a:lstStyle>
          <a:p>
            <a:r>
              <a:rPr lang="ru-RU" dirty="0"/>
              <a:t>Время работы</a:t>
            </a:r>
          </a:p>
          <a:p>
            <a:r>
              <a:rPr lang="ru-RU" dirty="0"/>
              <a:t>(8 ч.)</a:t>
            </a:r>
          </a:p>
        </p:txBody>
      </p:sp>
      <p:cxnSp>
        <p:nvCxnSpPr>
          <p:cNvPr id="7" name="Прямая со стрелкой 6"/>
          <p:cNvCxnSpPr/>
          <p:nvPr/>
        </p:nvCxnSpPr>
        <p:spPr>
          <a:xfrm flipV="1">
            <a:off x="1985481" y="1391976"/>
            <a:ext cx="3177726" cy="100545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stCxn id="23" idx="3"/>
          </p:cNvCxnSpPr>
          <p:nvPr/>
        </p:nvCxnSpPr>
        <p:spPr>
          <a:xfrm flipV="1">
            <a:off x="1850741" y="2706516"/>
            <a:ext cx="3984794" cy="75413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Прямая со стрелкой 34"/>
          <p:cNvCxnSpPr>
            <a:stCxn id="25" idx="3"/>
          </p:cNvCxnSpPr>
          <p:nvPr/>
        </p:nvCxnSpPr>
        <p:spPr>
          <a:xfrm flipV="1">
            <a:off x="3058316" y="4442998"/>
            <a:ext cx="3419646" cy="7050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>
            <a:stCxn id="30" idx="3"/>
          </p:cNvCxnSpPr>
          <p:nvPr/>
        </p:nvCxnSpPr>
        <p:spPr>
          <a:xfrm>
            <a:off x="2113826" y="5566351"/>
            <a:ext cx="4951992" cy="58291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Минус 47"/>
          <p:cNvSpPr/>
          <p:nvPr/>
        </p:nvSpPr>
        <p:spPr>
          <a:xfrm>
            <a:off x="9897608" y="1506423"/>
            <a:ext cx="1230283" cy="573578"/>
          </a:xfrm>
          <a:prstGeom prst="mathMinu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TextBox 48"/>
          <p:cNvSpPr txBox="1"/>
          <p:nvPr/>
        </p:nvSpPr>
        <p:spPr>
          <a:xfrm>
            <a:off x="9360131" y="2371424"/>
            <a:ext cx="246056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Большой массив данных («</a:t>
            </a:r>
            <a:r>
              <a:rPr lang="ru-RU" dirty="0" err="1"/>
              <a:t>замыление</a:t>
            </a:r>
            <a:r>
              <a:rPr lang="ru-RU" dirty="0"/>
              <a:t>» глаза)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Огромная вероятность человеческого фактора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Долгий поиск нужной информации (даже с фильтром)</a:t>
            </a:r>
          </a:p>
        </p:txBody>
      </p:sp>
    </p:spTree>
    <p:extLst>
      <p:ext uri="{BB962C8B-B14F-4D97-AF65-F5344CB8AC3E}">
        <p14:creationId xmlns:p14="http://schemas.microsoft.com/office/powerpoint/2010/main" val="1453975704"/>
      </p:ext>
    </p:extLst>
  </p:cSld>
  <p:clrMapOvr>
    <a:masterClrMapping/>
  </p:clrMapOvr>
  <p:transition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FEDFAE21-99ED-41B0-9DAB-65F9999FCABC}"/>
              </a:ext>
            </a:extLst>
          </p:cNvPr>
          <p:cNvSpPr txBox="1"/>
          <p:nvPr/>
        </p:nvSpPr>
        <p:spPr>
          <a:xfrm>
            <a:off x="415252" y="372049"/>
            <a:ext cx="10882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2813">
              <a:tabLst>
                <a:tab pos="2686050" algn="l"/>
              </a:tabLst>
            </a:pPr>
            <a:r>
              <a:rPr lang="ru-RU" sz="2800" b="1" dirty="0">
                <a:solidFill>
                  <a:srgbClr val="1F232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ПРОБЛЕМА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E4C0E7C-9554-4D7D-964A-B1066E66A051}"/>
              </a:ext>
            </a:extLst>
          </p:cNvPr>
          <p:cNvSpPr/>
          <p:nvPr/>
        </p:nvSpPr>
        <p:spPr>
          <a:xfrm>
            <a:off x="526697" y="312735"/>
            <a:ext cx="1885315" cy="53051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415252" y="779244"/>
            <a:ext cx="8362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Заполнение вручную фактических данных по транспортным средствам</a:t>
            </a:r>
            <a:r>
              <a:rPr lang="en-US" dirty="0"/>
              <a:t> </a:t>
            </a:r>
            <a:r>
              <a:rPr lang="ru-RU" dirty="0"/>
              <a:t>в ИС ЕКТП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0088" y="1545498"/>
            <a:ext cx="19202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/>
              <a:t>  15 МИН ЗАПОЛНЕНИЕ </a:t>
            </a:r>
            <a:r>
              <a:rPr lang="ru-RU" b="1" dirty="0" err="1"/>
              <a:t>факт.данных</a:t>
            </a:r>
            <a:br>
              <a:rPr lang="ru-RU" b="1" dirty="0"/>
            </a:br>
            <a:r>
              <a:rPr lang="ru-RU" b="1" dirty="0"/>
              <a:t>30 ТС 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370802" y="1224148"/>
            <a:ext cx="747320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8800" b="1" dirty="0"/>
              <a:t>≈</a:t>
            </a:r>
            <a:endParaRPr lang="ru-RU" sz="88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2106258-8D36-4439-A399-046AC19BF8F5}"/>
              </a:ext>
            </a:extLst>
          </p:cNvPr>
          <p:cNvSpPr/>
          <p:nvPr/>
        </p:nvSpPr>
        <p:spPr>
          <a:xfrm>
            <a:off x="9437477" y="2947050"/>
            <a:ext cx="747320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8800" b="1" dirty="0"/>
              <a:t>≈</a:t>
            </a:r>
            <a:endParaRPr lang="ru-RU" sz="8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188953-C437-4A7A-B2E9-8C3A2734E2EF}"/>
              </a:ext>
            </a:extLst>
          </p:cNvPr>
          <p:cNvSpPr txBox="1"/>
          <p:nvPr/>
        </p:nvSpPr>
        <p:spPr>
          <a:xfrm>
            <a:off x="10050087" y="3396056"/>
            <a:ext cx="19202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/>
              <a:t>  </a:t>
            </a:r>
            <a:r>
              <a:rPr lang="en-US" b="1" dirty="0"/>
              <a:t>1</a:t>
            </a:r>
            <a:r>
              <a:rPr lang="ru-RU" b="1" dirty="0"/>
              <a:t> контрагент  </a:t>
            </a:r>
            <a:r>
              <a:rPr lang="en-US" b="1" dirty="0"/>
              <a:t>900</a:t>
            </a:r>
            <a:r>
              <a:rPr lang="ru-RU" b="1" dirty="0"/>
              <a:t> ТС</a:t>
            </a:r>
            <a:endParaRPr lang="en-US" b="1" dirty="0"/>
          </a:p>
          <a:p>
            <a:pPr algn="ctr"/>
            <a:endParaRPr lang="en-US" b="1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83D575C-249F-444E-9E5B-759D7C4B707D}"/>
              </a:ext>
            </a:extLst>
          </p:cNvPr>
          <p:cNvSpPr/>
          <p:nvPr/>
        </p:nvSpPr>
        <p:spPr>
          <a:xfrm>
            <a:off x="9468624" y="4119331"/>
            <a:ext cx="747320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8800" b="1" dirty="0"/>
              <a:t>≈</a:t>
            </a:r>
            <a:endParaRPr lang="ru-RU" sz="8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248196-1D27-4026-863C-B26E3219BBA0}"/>
              </a:ext>
            </a:extLst>
          </p:cNvPr>
          <p:cNvSpPr txBox="1"/>
          <p:nvPr/>
        </p:nvSpPr>
        <p:spPr>
          <a:xfrm>
            <a:off x="10118122" y="4522171"/>
            <a:ext cx="192023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7,</a:t>
            </a:r>
            <a:r>
              <a:rPr lang="ru-RU" sz="4800" b="1" dirty="0"/>
              <a:t>5 ч</a:t>
            </a:r>
            <a:r>
              <a:rPr lang="en-US" sz="4800" b="1" dirty="0"/>
              <a:t>.</a:t>
            </a:r>
          </a:p>
          <a:p>
            <a:pPr algn="ctr"/>
            <a:r>
              <a:rPr lang="ru-RU" b="1" dirty="0"/>
              <a:t>Заполнение одного контрагента</a:t>
            </a:r>
            <a:endParaRPr lang="en-US" b="1" dirty="0"/>
          </a:p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2334852"/>
      </p:ext>
    </p:extLst>
  </p:cSld>
  <p:clrMapOvr>
    <a:masterClrMapping/>
  </p:clrMapOvr>
  <p:transition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FEDFAE21-99ED-41B0-9DAB-65F9999FCABC}"/>
              </a:ext>
            </a:extLst>
          </p:cNvPr>
          <p:cNvSpPr txBox="1"/>
          <p:nvPr/>
        </p:nvSpPr>
        <p:spPr>
          <a:xfrm>
            <a:off x="415252" y="372049"/>
            <a:ext cx="10882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2813">
              <a:tabLst>
                <a:tab pos="2686050" algn="l"/>
              </a:tabLst>
            </a:pPr>
            <a:r>
              <a:rPr lang="ru-RU" sz="2800" b="1" dirty="0">
                <a:solidFill>
                  <a:srgbClr val="1F232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РЕШЕНИЕ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E4C0E7C-9554-4D7D-964A-B1066E66A051}"/>
              </a:ext>
            </a:extLst>
          </p:cNvPr>
          <p:cNvSpPr/>
          <p:nvPr/>
        </p:nvSpPr>
        <p:spPr>
          <a:xfrm>
            <a:off x="526697" y="312735"/>
            <a:ext cx="1885315" cy="53051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415252" y="871577"/>
            <a:ext cx="83629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Заполнение фактических данных по транспортным автоматических с помощью расширения ЕКТП </a:t>
            </a:r>
            <a:r>
              <a:rPr lang="en-US" dirty="0"/>
              <a:t>Helper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6246933" y="5792634"/>
            <a:ext cx="452353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/>
              <a:t>  42 сек</a:t>
            </a:r>
            <a:r>
              <a:rPr lang="en-US" sz="2800" b="1" dirty="0"/>
              <a:t>.</a:t>
            </a:r>
            <a:endParaRPr lang="ru-RU" sz="2800" b="1" dirty="0"/>
          </a:p>
          <a:p>
            <a:pPr algn="ctr"/>
            <a:r>
              <a:rPr lang="ru-RU" b="1" dirty="0"/>
              <a:t>ЗАПОЛНЕНИЕ </a:t>
            </a:r>
            <a:r>
              <a:rPr lang="ru-RU" b="1" dirty="0" err="1"/>
              <a:t>факт.данных</a:t>
            </a:r>
            <a:br>
              <a:rPr lang="ru-RU" b="1" dirty="0"/>
            </a:br>
            <a:r>
              <a:rPr lang="ru-RU" b="1" dirty="0"/>
              <a:t>любого кол-ва ТС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6246933" y="5546962"/>
            <a:ext cx="747320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8800" dirty="0"/>
              <a:t>=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BAEFAD1-C061-4590-BEA4-2A3F37D76AC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432" t="6914" r="11945" b="48395"/>
          <a:stretch/>
        </p:blipFill>
        <p:spPr>
          <a:xfrm>
            <a:off x="526697" y="1562254"/>
            <a:ext cx="973511" cy="435173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33554C-96B6-499D-BF90-D13F3E969391}"/>
              </a:ext>
            </a:extLst>
          </p:cNvPr>
          <p:cNvSpPr txBox="1"/>
          <p:nvPr/>
        </p:nvSpPr>
        <p:spPr>
          <a:xfrm>
            <a:off x="205702" y="5954878"/>
            <a:ext cx="19540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Интерфейс расширения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61155C-86E3-4704-9C05-0C4E0AE37794}"/>
              </a:ext>
            </a:extLst>
          </p:cNvPr>
          <p:cNvSpPr txBox="1"/>
          <p:nvPr/>
        </p:nvSpPr>
        <p:spPr>
          <a:xfrm>
            <a:off x="1676707" y="1562228"/>
            <a:ext cx="1753594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Функции:</a:t>
            </a:r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Массовое открытие обновление ТС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Автоматическое сопоставление данных из </a:t>
            </a:r>
            <a:r>
              <a:rPr lang="en-US" sz="1400" dirty="0"/>
              <a:t>Excel</a:t>
            </a:r>
            <a:r>
              <a:rPr lang="ru-RU" sz="1400" dirty="0"/>
              <a:t> таблицы в ИС ЕКТП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Массовая передача данных  по всем ТС</a:t>
            </a:r>
          </a:p>
        </p:txBody>
      </p:sp>
    </p:spTree>
    <p:extLst>
      <p:ext uri="{BB962C8B-B14F-4D97-AF65-F5344CB8AC3E}">
        <p14:creationId xmlns:p14="http://schemas.microsoft.com/office/powerpoint/2010/main" val="3656285310"/>
      </p:ext>
    </p:extLst>
  </p:cSld>
  <p:clrMapOvr>
    <a:masterClrMapping/>
  </p:clrMapOvr>
  <p:transition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FEDFAE21-99ED-41B0-9DAB-65F9999FCABC}"/>
              </a:ext>
            </a:extLst>
          </p:cNvPr>
          <p:cNvSpPr txBox="1"/>
          <p:nvPr/>
        </p:nvSpPr>
        <p:spPr>
          <a:xfrm>
            <a:off x="415252" y="372049"/>
            <a:ext cx="10882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2813">
              <a:tabLst>
                <a:tab pos="2686050" algn="l"/>
              </a:tabLst>
            </a:pPr>
            <a:r>
              <a:rPr lang="ru-RU" sz="2800" b="1" dirty="0">
                <a:solidFill>
                  <a:srgbClr val="1F232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ЭФФЕКТ ОТ ВНЕДРЕНИЯ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E4C0E7C-9554-4D7D-964A-B1066E66A051}"/>
              </a:ext>
            </a:extLst>
          </p:cNvPr>
          <p:cNvSpPr/>
          <p:nvPr/>
        </p:nvSpPr>
        <p:spPr>
          <a:xfrm>
            <a:off x="526697" y="312735"/>
            <a:ext cx="1885315" cy="53051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EFCDBC-809D-42A7-844E-CBC8B0788D2C}"/>
              </a:ext>
            </a:extLst>
          </p:cNvPr>
          <p:cNvSpPr txBox="1"/>
          <p:nvPr/>
        </p:nvSpPr>
        <p:spPr>
          <a:xfrm>
            <a:off x="4171950" y="2038350"/>
            <a:ext cx="54292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Минимизация вероятности ошибок до нуля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52C77A-EAAA-44D5-A7D4-D9E96FA0A9A1}"/>
              </a:ext>
            </a:extLst>
          </p:cNvPr>
          <p:cNvSpPr txBox="1"/>
          <p:nvPr/>
        </p:nvSpPr>
        <p:spPr>
          <a:xfrm>
            <a:off x="4171950" y="3443615"/>
            <a:ext cx="5429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Увеличение производительности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658BB9-E542-4652-B34F-9AD06C9F4E25}"/>
              </a:ext>
            </a:extLst>
          </p:cNvPr>
          <p:cNvSpPr txBox="1"/>
          <p:nvPr/>
        </p:nvSpPr>
        <p:spPr>
          <a:xfrm>
            <a:off x="4171950" y="4417993"/>
            <a:ext cx="54292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Выполнение более приоритетных и значительных задач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20473FC-90DE-48CF-A068-B886622F3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0225" y="1858982"/>
            <a:ext cx="1162050" cy="116205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CF91AD7F-952A-4FED-BAE5-8C0CF9862A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9900" y="3146724"/>
            <a:ext cx="1002701" cy="1002701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3848E560-C690-450B-8328-3BFEE7BF8A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9574" y="4417993"/>
            <a:ext cx="1002701" cy="100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772439"/>
      </p:ext>
    </p:extLst>
  </p:cSld>
  <p:clrMapOvr>
    <a:masterClrMapping/>
  </p:clrMapOvr>
  <p:transition>
    <p:push dir="u"/>
  </p:transition>
</p:sld>
</file>

<file path=ppt/theme/theme1.xml><?xml version="1.0" encoding="utf-8"?>
<a:theme xmlns:a="http://schemas.openxmlformats.org/drawingml/2006/main" name="Rosneft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2954</TotalTime>
  <Words>269</Words>
  <Application>Microsoft Office PowerPoint</Application>
  <PresentationFormat>Широкоэкранный</PresentationFormat>
  <Paragraphs>75</Paragraphs>
  <Slides>8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Segoe UI</vt:lpstr>
      <vt:lpstr>Segoe UI Semibold</vt:lpstr>
      <vt:lpstr>Rosneft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Leonov Evgeniy</dc:creator>
  <cp:lastModifiedBy>Yurec Pizdec</cp:lastModifiedBy>
  <cp:revision>541</cp:revision>
  <dcterms:created xsi:type="dcterms:W3CDTF">2020-11-02T22:12:20Z</dcterms:created>
  <dcterms:modified xsi:type="dcterms:W3CDTF">2026-02-04T19:03:07Z</dcterms:modified>
</cp:coreProperties>
</file>